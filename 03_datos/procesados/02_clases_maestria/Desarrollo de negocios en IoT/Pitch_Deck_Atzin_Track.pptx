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6" r:id="rId2"/>
    <p:sldId id="256" r:id="rId3"/>
    <p:sldId id="267" r:id="rId4"/>
    <p:sldId id="268" r:id="rId5"/>
    <p:sldId id="257" r:id="rId6"/>
    <p:sldId id="259" r:id="rId7"/>
    <p:sldId id="260" r:id="rId8"/>
    <p:sldId id="269" r:id="rId9"/>
    <p:sldId id="270" r:id="rId10"/>
    <p:sldId id="261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1618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k Vega" userId="65e1e5dacfec4262" providerId="LiveId" clId="{D8D82B7C-8817-44E0-81B1-ED4001C883B3}"/>
    <pc:docChg chg="undo custSel modSld">
      <pc:chgData name="Erick Vega" userId="65e1e5dacfec4262" providerId="LiveId" clId="{D8D82B7C-8817-44E0-81B1-ED4001C883B3}" dt="2025-06-13T00:10:44.977" v="304" actId="113"/>
      <pc:docMkLst>
        <pc:docMk/>
      </pc:docMkLst>
      <pc:sldChg chg="delSp modSp mod">
        <pc:chgData name="Erick Vega" userId="65e1e5dacfec4262" providerId="LiveId" clId="{D8D82B7C-8817-44E0-81B1-ED4001C883B3}" dt="2025-06-12T23:51:10.400" v="280" actId="478"/>
        <pc:sldMkLst>
          <pc:docMk/>
          <pc:sldMk cId="0" sldId="256"/>
        </pc:sldMkLst>
        <pc:spChg chg="mod">
          <ac:chgData name="Erick Vega" userId="65e1e5dacfec4262" providerId="LiveId" clId="{D8D82B7C-8817-44E0-81B1-ED4001C883B3}" dt="2025-06-12T23:50:14.586" v="279" actId="20577"/>
          <ac:spMkLst>
            <pc:docMk/>
            <pc:sldMk cId="0" sldId="256"/>
            <ac:spMk id="8" creationId="{F20B4001-28AF-A17E-E1FE-7C6A1E4F3775}"/>
          </ac:spMkLst>
        </pc:spChg>
        <pc:spChg chg="del">
          <ac:chgData name="Erick Vega" userId="65e1e5dacfec4262" providerId="LiveId" clId="{D8D82B7C-8817-44E0-81B1-ED4001C883B3}" dt="2025-06-12T23:51:10.400" v="280" actId="478"/>
          <ac:spMkLst>
            <pc:docMk/>
            <pc:sldMk cId="0" sldId="256"/>
            <ac:spMk id="10" creationId="{21F4963D-85A6-683B-9953-0B6CD9D75B5A}"/>
          </ac:spMkLst>
        </pc:spChg>
      </pc:sldChg>
      <pc:sldChg chg="modSp mod">
        <pc:chgData name="Erick Vega" userId="65e1e5dacfec4262" providerId="LiveId" clId="{D8D82B7C-8817-44E0-81B1-ED4001C883B3}" dt="2025-06-12T23:57:31.613" v="281" actId="6549"/>
        <pc:sldMkLst>
          <pc:docMk/>
          <pc:sldMk cId="0" sldId="259"/>
        </pc:sldMkLst>
        <pc:spChg chg="mod">
          <ac:chgData name="Erick Vega" userId="65e1e5dacfec4262" providerId="LiveId" clId="{D8D82B7C-8817-44E0-81B1-ED4001C883B3}" dt="2025-06-12T23:57:31.613" v="281" actId="6549"/>
          <ac:spMkLst>
            <pc:docMk/>
            <pc:sldMk cId="0" sldId="259"/>
            <ac:spMk id="7" creationId="{239E65F7-E66C-6F95-54D2-EF1EBB427A6C}"/>
          </ac:spMkLst>
        </pc:spChg>
      </pc:sldChg>
      <pc:sldChg chg="modSp mod">
        <pc:chgData name="Erick Vega" userId="65e1e5dacfec4262" providerId="LiveId" clId="{D8D82B7C-8817-44E0-81B1-ED4001C883B3}" dt="2025-06-12T23:57:45.438" v="282" actId="403"/>
        <pc:sldMkLst>
          <pc:docMk/>
          <pc:sldMk cId="0" sldId="260"/>
        </pc:sldMkLst>
        <pc:spChg chg="mod">
          <ac:chgData name="Erick Vega" userId="65e1e5dacfec4262" providerId="LiveId" clId="{D8D82B7C-8817-44E0-81B1-ED4001C883B3}" dt="2025-06-12T23:57:45.438" v="282" actId="403"/>
          <ac:spMkLst>
            <pc:docMk/>
            <pc:sldMk cId="0" sldId="260"/>
            <ac:spMk id="5" creationId="{D9919B33-8D7E-6072-D951-198D12392CD7}"/>
          </ac:spMkLst>
        </pc:spChg>
      </pc:sldChg>
      <pc:sldChg chg="modSp mod">
        <pc:chgData name="Erick Vega" userId="65e1e5dacfec4262" providerId="LiveId" clId="{D8D82B7C-8817-44E0-81B1-ED4001C883B3}" dt="2025-06-13T00:10:44.977" v="304" actId="113"/>
        <pc:sldMkLst>
          <pc:docMk/>
          <pc:sldMk cId="0" sldId="261"/>
        </pc:sldMkLst>
        <pc:spChg chg="mod">
          <ac:chgData name="Erick Vega" userId="65e1e5dacfec4262" providerId="LiveId" clId="{D8D82B7C-8817-44E0-81B1-ED4001C883B3}" dt="2025-06-13T00:10:44.977" v="304" actId="113"/>
          <ac:spMkLst>
            <pc:docMk/>
            <pc:sldMk cId="0" sldId="261"/>
            <ac:spMk id="3" creationId="{00000000-0000-0000-0000-000000000000}"/>
          </ac:spMkLst>
        </pc:spChg>
        <pc:spChg chg="mod">
          <ac:chgData name="Erick Vega" userId="65e1e5dacfec4262" providerId="LiveId" clId="{D8D82B7C-8817-44E0-81B1-ED4001C883B3}" dt="2025-06-12T23:58:41.196" v="292" actId="113"/>
          <ac:spMkLst>
            <pc:docMk/>
            <pc:sldMk cId="0" sldId="261"/>
            <ac:spMk id="9" creationId="{04968D35-E126-B7B7-7144-0136C64516A2}"/>
          </ac:spMkLst>
        </pc:spChg>
      </pc:sldChg>
    </pc:docChg>
  </pc:docChgLst>
  <pc:docChgLst>
    <pc:chgData name="Erick Vega" userId="65e1e5dacfec4262" providerId="LiveId" clId="{445F7365-FB0D-4929-A0D0-7A8D5A2DBF55}"/>
    <pc:docChg chg="undo custSel addSld delSld modSld">
      <pc:chgData name="Erick Vega" userId="65e1e5dacfec4262" providerId="LiveId" clId="{445F7365-FB0D-4929-A0D0-7A8D5A2DBF55}" dt="2025-06-12T21:23:33.198" v="750" actId="27636"/>
      <pc:docMkLst>
        <pc:docMk/>
      </pc:docMkLst>
      <pc:sldChg chg="addSp modSp mod">
        <pc:chgData name="Erick Vega" userId="65e1e5dacfec4262" providerId="LiveId" clId="{445F7365-FB0D-4929-A0D0-7A8D5A2DBF55}" dt="2025-06-12T21:11:05.852" v="585" actId="1076"/>
        <pc:sldMkLst>
          <pc:docMk/>
          <pc:sldMk cId="0" sldId="256"/>
        </pc:sldMkLst>
        <pc:spChg chg="mod">
          <ac:chgData name="Erick Vega" userId="65e1e5dacfec4262" providerId="LiveId" clId="{445F7365-FB0D-4929-A0D0-7A8D5A2DBF55}" dt="2025-06-12T21:11:00.114" v="583" actId="21"/>
          <ac:spMkLst>
            <pc:docMk/>
            <pc:sldMk cId="0" sldId="256"/>
            <ac:spMk id="8" creationId="{F20B4001-28AF-A17E-E1FE-7C6A1E4F3775}"/>
          </ac:spMkLst>
        </pc:spChg>
        <pc:spChg chg="add mod">
          <ac:chgData name="Erick Vega" userId="65e1e5dacfec4262" providerId="LiveId" clId="{445F7365-FB0D-4929-A0D0-7A8D5A2DBF55}" dt="2025-06-12T21:11:05.852" v="585" actId="1076"/>
          <ac:spMkLst>
            <pc:docMk/>
            <pc:sldMk cId="0" sldId="256"/>
            <ac:spMk id="10" creationId="{21F4963D-85A6-683B-9953-0B6CD9D75B5A}"/>
          </ac:spMkLst>
        </pc:spChg>
      </pc:sldChg>
      <pc:sldChg chg="modSp mod">
        <pc:chgData name="Erick Vega" userId="65e1e5dacfec4262" providerId="LiveId" clId="{445F7365-FB0D-4929-A0D0-7A8D5A2DBF55}" dt="2025-06-12T20:31:40.245" v="276" actId="20577"/>
        <pc:sldMkLst>
          <pc:docMk/>
          <pc:sldMk cId="0" sldId="257"/>
        </pc:sldMkLst>
        <pc:spChg chg="mod">
          <ac:chgData name="Erick Vega" userId="65e1e5dacfec4262" providerId="LiveId" clId="{445F7365-FB0D-4929-A0D0-7A8D5A2DBF55}" dt="2025-06-12T20:31:40.245" v="276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Erick Vega" userId="65e1e5dacfec4262" providerId="LiveId" clId="{445F7365-FB0D-4929-A0D0-7A8D5A2DBF55}" dt="2025-06-12T21:22:08.069" v="718" actId="1076"/>
        <pc:sldMkLst>
          <pc:docMk/>
          <pc:sldMk cId="0" sldId="260"/>
        </pc:sldMkLst>
        <pc:spChg chg="mod">
          <ac:chgData name="Erick Vega" userId="65e1e5dacfec4262" providerId="LiveId" clId="{445F7365-FB0D-4929-A0D0-7A8D5A2DBF55}" dt="2025-06-12T21:20:57.822" v="693" actId="27636"/>
          <ac:spMkLst>
            <pc:docMk/>
            <pc:sldMk cId="0" sldId="260"/>
            <ac:spMk id="2" creationId="{00000000-0000-0000-0000-000000000000}"/>
          </ac:spMkLst>
        </pc:spChg>
        <pc:spChg chg="mod">
          <ac:chgData name="Erick Vega" userId="65e1e5dacfec4262" providerId="LiveId" clId="{445F7365-FB0D-4929-A0D0-7A8D5A2DBF55}" dt="2025-06-12T21:22:08.069" v="718" actId="1076"/>
          <ac:spMkLst>
            <pc:docMk/>
            <pc:sldMk cId="0" sldId="260"/>
            <ac:spMk id="5" creationId="{D9919B33-8D7E-6072-D951-198D12392CD7}"/>
          </ac:spMkLst>
        </pc:spChg>
        <pc:spChg chg="add del mod">
          <ac:chgData name="Erick Vega" userId="65e1e5dacfec4262" providerId="LiveId" clId="{445F7365-FB0D-4929-A0D0-7A8D5A2DBF55}" dt="2025-06-12T21:17:10.719" v="601" actId="21"/>
          <ac:spMkLst>
            <pc:docMk/>
            <pc:sldMk cId="0" sldId="260"/>
            <ac:spMk id="7" creationId="{6979063F-43CD-FEC2-24BF-2B997C80C841}"/>
          </ac:spMkLst>
        </pc:spChg>
        <pc:spChg chg="add del mod">
          <ac:chgData name="Erick Vega" userId="65e1e5dacfec4262" providerId="LiveId" clId="{445F7365-FB0D-4929-A0D0-7A8D5A2DBF55}" dt="2025-06-12T21:22:05.642" v="717" actId="21"/>
          <ac:spMkLst>
            <pc:docMk/>
            <pc:sldMk cId="0" sldId="260"/>
            <ac:spMk id="9" creationId="{04968D35-E126-B7B7-7144-0136C64516A2}"/>
          </ac:spMkLst>
        </pc:spChg>
      </pc:sldChg>
      <pc:sldChg chg="addSp modSp mod">
        <pc:chgData name="Erick Vega" userId="65e1e5dacfec4262" providerId="LiveId" clId="{445F7365-FB0D-4929-A0D0-7A8D5A2DBF55}" dt="2025-06-12T21:23:33.198" v="750" actId="27636"/>
        <pc:sldMkLst>
          <pc:docMk/>
          <pc:sldMk cId="0" sldId="261"/>
        </pc:sldMkLst>
        <pc:spChg chg="mod">
          <ac:chgData name="Erick Vega" userId="65e1e5dacfec4262" providerId="LiveId" clId="{445F7365-FB0D-4929-A0D0-7A8D5A2DBF55}" dt="2025-06-12T21:22:47.510" v="737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Erick Vega" userId="65e1e5dacfec4262" providerId="LiveId" clId="{445F7365-FB0D-4929-A0D0-7A8D5A2DBF55}" dt="2025-06-12T21:23:33.198" v="750" actId="27636"/>
          <ac:spMkLst>
            <pc:docMk/>
            <pc:sldMk cId="0" sldId="261"/>
            <ac:spMk id="3" creationId="{00000000-0000-0000-0000-000000000000}"/>
          </ac:spMkLst>
        </pc:spChg>
        <pc:spChg chg="add mod">
          <ac:chgData name="Erick Vega" userId="65e1e5dacfec4262" providerId="LiveId" clId="{445F7365-FB0D-4929-A0D0-7A8D5A2DBF55}" dt="2025-06-12T21:23:07.477" v="748" actId="20577"/>
          <ac:spMkLst>
            <pc:docMk/>
            <pc:sldMk cId="0" sldId="261"/>
            <ac:spMk id="9" creationId="{04968D35-E126-B7B7-7144-0136C64516A2}"/>
          </ac:spMkLst>
        </pc:spChg>
      </pc:sldChg>
      <pc:sldChg chg="modSp mod">
        <pc:chgData name="Erick Vega" userId="65e1e5dacfec4262" providerId="LiveId" clId="{445F7365-FB0D-4929-A0D0-7A8D5A2DBF55}" dt="2025-06-12T20:25:48.592" v="5" actId="20577"/>
        <pc:sldMkLst>
          <pc:docMk/>
          <pc:sldMk cId="1759202737" sldId="267"/>
        </pc:sldMkLst>
        <pc:spChg chg="mod">
          <ac:chgData name="Erick Vega" userId="65e1e5dacfec4262" providerId="LiveId" clId="{445F7365-FB0D-4929-A0D0-7A8D5A2DBF55}" dt="2025-06-12T20:25:48.592" v="5" actId="20577"/>
          <ac:spMkLst>
            <pc:docMk/>
            <pc:sldMk cId="1759202737" sldId="267"/>
            <ac:spMk id="3" creationId="{EC646F5C-D5C0-3397-54A3-070E199255C0}"/>
          </ac:spMkLst>
        </pc:spChg>
      </pc:sldChg>
      <pc:sldChg chg="addSp delSp modSp add mod">
        <pc:chgData name="Erick Vega" userId="65e1e5dacfec4262" providerId="LiveId" clId="{445F7365-FB0D-4929-A0D0-7A8D5A2DBF55}" dt="2025-06-12T21:17:41.837" v="610" actId="1076"/>
        <pc:sldMkLst>
          <pc:docMk/>
          <pc:sldMk cId="1309877659" sldId="269"/>
        </pc:sldMkLst>
        <pc:spChg chg="mod">
          <ac:chgData name="Erick Vega" userId="65e1e5dacfec4262" providerId="LiveId" clId="{445F7365-FB0D-4929-A0D0-7A8D5A2DBF55}" dt="2025-06-12T21:17:37.377" v="608" actId="14100"/>
          <ac:spMkLst>
            <pc:docMk/>
            <pc:sldMk cId="1309877659" sldId="269"/>
            <ac:spMk id="2" creationId="{AC13552D-449C-A64F-8FD5-F5C397620B24}"/>
          </ac:spMkLst>
        </pc:spChg>
        <pc:spChg chg="add mod">
          <ac:chgData name="Erick Vega" userId="65e1e5dacfec4262" providerId="LiveId" clId="{445F7365-FB0D-4929-A0D0-7A8D5A2DBF55}" dt="2025-06-12T21:17:39.127" v="609" actId="1076"/>
          <ac:spMkLst>
            <pc:docMk/>
            <pc:sldMk cId="1309877659" sldId="269"/>
            <ac:spMk id="4" creationId="{E5FE2CDE-E38C-872B-CE53-000B4D6D27CF}"/>
          </ac:spMkLst>
        </pc:spChg>
        <pc:spChg chg="del">
          <ac:chgData name="Erick Vega" userId="65e1e5dacfec4262" providerId="LiveId" clId="{445F7365-FB0D-4929-A0D0-7A8D5A2DBF55}" dt="2025-06-12T20:38:37.403" v="338" actId="478"/>
          <ac:spMkLst>
            <pc:docMk/>
            <pc:sldMk cId="1309877659" sldId="269"/>
            <ac:spMk id="5" creationId="{A6FF97D8-D579-BE8E-E732-6E5C19D7D7F7}"/>
          </ac:spMkLst>
        </pc:spChg>
        <pc:spChg chg="add mod">
          <ac:chgData name="Erick Vega" userId="65e1e5dacfec4262" providerId="LiveId" clId="{445F7365-FB0D-4929-A0D0-7A8D5A2DBF55}" dt="2025-06-12T21:17:30.065" v="606" actId="1076"/>
          <ac:spMkLst>
            <pc:docMk/>
            <pc:sldMk cId="1309877659" sldId="269"/>
            <ac:spMk id="6" creationId="{6979063F-43CD-FEC2-24BF-2B997C80C841}"/>
          </ac:spMkLst>
        </pc:spChg>
        <pc:spChg chg="del">
          <ac:chgData name="Erick Vega" userId="65e1e5dacfec4262" providerId="LiveId" clId="{445F7365-FB0D-4929-A0D0-7A8D5A2DBF55}" dt="2025-06-12T20:38:38.787" v="339" actId="478"/>
          <ac:spMkLst>
            <pc:docMk/>
            <pc:sldMk cId="1309877659" sldId="269"/>
            <ac:spMk id="7" creationId="{06E9A6FE-E121-A6CA-031B-3C54B1348CBD}"/>
          </ac:spMkLst>
        </pc:spChg>
        <pc:graphicFrameChg chg="add mod modGraphic">
          <ac:chgData name="Erick Vega" userId="65e1e5dacfec4262" providerId="LiveId" clId="{445F7365-FB0D-4929-A0D0-7A8D5A2DBF55}" dt="2025-06-12T21:17:41.837" v="610" actId="1076"/>
          <ac:graphicFrameMkLst>
            <pc:docMk/>
            <pc:sldMk cId="1309877659" sldId="269"/>
            <ac:graphicFrameMk id="3" creationId="{514B55DA-AE98-E0C1-670F-79ED608C29BE}"/>
          </ac:graphicFrameMkLst>
        </pc:graphicFrameChg>
      </pc:sldChg>
      <pc:sldChg chg="addSp delSp modSp add mod">
        <pc:chgData name="Erick Vega" userId="65e1e5dacfec4262" providerId="LiveId" clId="{445F7365-FB0D-4929-A0D0-7A8D5A2DBF55}" dt="2025-06-12T20:54:31.724" v="498" actId="313"/>
        <pc:sldMkLst>
          <pc:docMk/>
          <pc:sldMk cId="4102140686" sldId="270"/>
        </pc:sldMkLst>
        <pc:spChg chg="del">
          <ac:chgData name="Erick Vega" userId="65e1e5dacfec4262" providerId="LiveId" clId="{445F7365-FB0D-4929-A0D0-7A8D5A2DBF55}" dt="2025-06-12T20:52:52.413" v="451" actId="478"/>
          <ac:spMkLst>
            <pc:docMk/>
            <pc:sldMk cId="4102140686" sldId="270"/>
            <ac:spMk id="4" creationId="{661CC54F-7CF5-D0C4-6364-4DB77902E9C0}"/>
          </ac:spMkLst>
        </pc:spChg>
        <pc:spChg chg="add mod">
          <ac:chgData name="Erick Vega" userId="65e1e5dacfec4262" providerId="LiveId" clId="{445F7365-FB0D-4929-A0D0-7A8D5A2DBF55}" dt="2025-06-12T20:54:31.724" v="498" actId="313"/>
          <ac:spMkLst>
            <pc:docMk/>
            <pc:sldMk cId="4102140686" sldId="270"/>
            <ac:spMk id="6" creationId="{F32A1CB5-7368-EA80-1371-04C6A3D13319}"/>
          </ac:spMkLst>
        </pc:spChg>
        <pc:graphicFrameChg chg="del">
          <ac:chgData name="Erick Vega" userId="65e1e5dacfec4262" providerId="LiveId" clId="{445F7365-FB0D-4929-A0D0-7A8D5A2DBF55}" dt="2025-06-12T20:52:44.633" v="448" actId="478"/>
          <ac:graphicFrameMkLst>
            <pc:docMk/>
            <pc:sldMk cId="4102140686" sldId="270"/>
            <ac:graphicFrameMk id="3" creationId="{56947E88-96AB-3C66-39B7-EFB2E40BEC4A}"/>
          </ac:graphicFrameMkLst>
        </pc:graphicFrameChg>
        <pc:graphicFrameChg chg="add mod modGraphic">
          <ac:chgData name="Erick Vega" userId="65e1e5dacfec4262" providerId="LiveId" clId="{445F7365-FB0D-4929-A0D0-7A8D5A2DBF55}" dt="2025-06-12T20:53:21.743" v="465" actId="12385"/>
          <ac:graphicFrameMkLst>
            <pc:docMk/>
            <pc:sldMk cId="4102140686" sldId="270"/>
            <ac:graphicFrameMk id="5" creationId="{6E746FAB-7D5A-4DCC-9582-C3098A9BD5EF}"/>
          </ac:graphicFrameMkLst>
        </pc:graphicFrameChg>
      </pc:sldChg>
      <pc:sldChg chg="add del">
        <pc:chgData name="Erick Vega" userId="65e1e5dacfec4262" providerId="LiveId" clId="{445F7365-FB0D-4929-A0D0-7A8D5A2DBF55}" dt="2025-06-12T21:16:12.518" v="587" actId="47"/>
        <pc:sldMkLst>
          <pc:docMk/>
          <pc:sldMk cId="2809676855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3F5C7B-DBB8-4AB4-81CE-400831E10892}" type="datetimeFigureOut">
              <a:rPr lang="es-MX" smtClean="0"/>
              <a:t>12/06/2025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D97855-7E40-489F-A74A-AAA11F5378C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7740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D97855-7E40-489F-A74A-AAA11F5378C6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2005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rma&#10;&#10;El contenido generado por IA puede ser incorrecto.">
            <a:extLst>
              <a:ext uri="{FF2B5EF4-FFF2-40B4-BE49-F238E27FC236}">
                <a16:creationId xmlns:a16="http://schemas.microsoft.com/office/drawing/2014/main" id="{FB560F2E-EB95-23E6-9C90-A2604DAEA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600" y="-76200"/>
            <a:ext cx="2476500" cy="24765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7A817D-6F2A-1D93-9EBC-7C6428280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01851"/>
            <a:ext cx="8229600" cy="114935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s-MX" dirty="0"/>
              <a:t>Monitoreo Remoto de Flotas</a:t>
            </a:r>
          </a:p>
          <a:p>
            <a:pPr marL="0" indent="0" algn="ctr">
              <a:buNone/>
            </a:pPr>
            <a:r>
              <a:rPr lang="es-MX" dirty="0"/>
              <a:t>Proyecto “Atzin </a:t>
            </a:r>
            <a:r>
              <a:rPr lang="es-MX" dirty="0" err="1"/>
              <a:t>Track</a:t>
            </a:r>
            <a:r>
              <a:rPr lang="es-MX" dirty="0"/>
              <a:t>”</a:t>
            </a:r>
            <a:endParaRPr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A896880-EE49-AE4B-881D-0F1884A38BD3}"/>
              </a:ext>
            </a:extLst>
          </p:cNvPr>
          <p:cNvSpPr txBox="1">
            <a:spLocks/>
          </p:cNvSpPr>
          <p:nvPr/>
        </p:nvSpPr>
        <p:spPr>
          <a:xfrm>
            <a:off x="457200" y="3422651"/>
            <a:ext cx="8229600" cy="114935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s-MX" dirty="0"/>
              <a:t>I.S.C Erick Renato Vega Ceron</a:t>
            </a:r>
          </a:p>
          <a:p>
            <a:pPr marL="0" indent="0" algn="ctr">
              <a:buFont typeface="Arial"/>
              <a:buNone/>
            </a:pPr>
            <a:r>
              <a:rPr lang="es-MX" dirty="0"/>
              <a:t>Maestría en Internet de las Cosas</a:t>
            </a:r>
          </a:p>
          <a:p>
            <a:pPr marL="0" indent="0" algn="ctr">
              <a:buFont typeface="Arial"/>
              <a:buNone/>
            </a:pPr>
            <a:r>
              <a:rPr lang="es-MX" dirty="0"/>
              <a:t>Universidad Autónoma del Estado de Hidalgo</a:t>
            </a:r>
          </a:p>
        </p:txBody>
      </p:sp>
    </p:spTree>
    <p:extLst>
      <p:ext uri="{BB962C8B-B14F-4D97-AF65-F5344CB8AC3E}">
        <p14:creationId xmlns:p14="http://schemas.microsoft.com/office/powerpoint/2010/main" val="330924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95312"/>
          </a:xfrm>
        </p:spPr>
        <p:txBody>
          <a:bodyPr>
            <a:normAutofit fontScale="90000"/>
          </a:bodyPr>
          <a:lstStyle/>
          <a:p>
            <a:r>
              <a:rPr lang="es-MX" dirty="0"/>
              <a:t>Problemas a resolver</a:t>
            </a:r>
            <a:endParaRPr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20B4001-28AF-A17E-E1FE-7C6A1E4F3775}"/>
              </a:ext>
            </a:extLst>
          </p:cNvPr>
          <p:cNvSpPr txBox="1"/>
          <p:nvPr/>
        </p:nvSpPr>
        <p:spPr>
          <a:xfrm>
            <a:off x="292100" y="951051"/>
            <a:ext cx="82296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/>
              <a:t>• </a:t>
            </a:r>
            <a:r>
              <a:rPr lang="es-MX" sz="2000" b="1" dirty="0"/>
              <a:t>Gestión ineficiente</a:t>
            </a:r>
            <a:br>
              <a:rPr lang="es-MX" sz="2000" dirty="0"/>
            </a:br>
            <a:r>
              <a:rPr lang="es-MX" sz="2000" dirty="0"/>
              <a:t>En la ZMP, operan alrededor de </a:t>
            </a:r>
            <a:r>
              <a:rPr lang="es-MX" sz="2000" b="1" dirty="0"/>
              <a:t>84 rutas concesionadas</a:t>
            </a:r>
            <a:r>
              <a:rPr lang="es-MX" sz="2000" dirty="0"/>
              <a:t> con </a:t>
            </a:r>
            <a:r>
              <a:rPr lang="es-MX" sz="2000" b="1" dirty="0"/>
              <a:t>aproximadamente 5,000 vehículos, </a:t>
            </a:r>
            <a:r>
              <a:rPr lang="es-MX" sz="2000" dirty="0"/>
              <a:t>provocando</a:t>
            </a:r>
            <a:r>
              <a:rPr lang="es-MX" sz="2000" b="1" dirty="0"/>
              <a:t> </a:t>
            </a:r>
            <a:r>
              <a:rPr lang="es-MX" sz="2000" dirty="0"/>
              <a:t>tiempos muertos, atrasos e ineficiencia operativa al no tener monitoreo activo (SEMOT, 2021)</a:t>
            </a:r>
          </a:p>
          <a:p>
            <a:endParaRPr lang="es-MX" sz="2000" dirty="0"/>
          </a:p>
          <a:p>
            <a:r>
              <a:rPr lang="es-MX" sz="2000" dirty="0"/>
              <a:t>• </a:t>
            </a:r>
            <a:r>
              <a:rPr lang="es-MX" sz="2000" b="1" dirty="0"/>
              <a:t>Baja capacidad de respuesta</a:t>
            </a:r>
          </a:p>
          <a:p>
            <a:r>
              <a:rPr lang="es-MX" sz="2000" dirty="0"/>
              <a:t> Sin datos inmediatos, los operadores no pueden responder ante incidentes y los concesionarios desconocen el estado de sus unidades (ENSU, 2025).</a:t>
            </a:r>
          </a:p>
          <a:p>
            <a:endParaRPr lang="es-MX" sz="2000" dirty="0"/>
          </a:p>
          <a:p>
            <a:r>
              <a:rPr lang="es-MX" sz="2000" dirty="0"/>
              <a:t>• </a:t>
            </a:r>
            <a:r>
              <a:rPr lang="es-MX" sz="2000" b="1" dirty="0"/>
              <a:t>Alto costo y dependencia celular</a:t>
            </a:r>
          </a:p>
          <a:p>
            <a:r>
              <a:rPr lang="es-MX" sz="2000" dirty="0"/>
              <a:t> Soluciones 4G cuestan entre $199 y $449 MXN por unidad/mes, además de requerir instalación en dispositivo de gama media-alta y red móvil, a menudo limitada en zonas periféricas (IFT, 2022)</a:t>
            </a:r>
          </a:p>
          <a:p>
            <a:endParaRPr lang="es-MX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5451CA-B6C6-5A9B-C0FE-5CDB470F8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Soluciones existentes en el mercado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646F5C-D5C0-3397-54A3-070E19925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850" y="1417638"/>
            <a:ext cx="3898900" cy="498316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s-MX" sz="1600" b="1" dirty="0"/>
              <a:t>Ituran Fleet (4G)</a:t>
            </a:r>
            <a:endParaRPr lang="es-MX" sz="1600" dirty="0"/>
          </a:p>
          <a:p>
            <a:r>
              <a:rPr lang="es-MX" sz="1600" dirty="0"/>
              <a:t>$399–450 MXN/mes</a:t>
            </a:r>
          </a:p>
          <a:p>
            <a:r>
              <a:rPr lang="es-MX" sz="1600" dirty="0"/>
              <a:t>Instalación fija, botón de pánico</a:t>
            </a:r>
          </a:p>
          <a:p>
            <a:r>
              <a:rPr lang="es-MX" sz="1600" dirty="0"/>
              <a:t>Red celular</a:t>
            </a:r>
          </a:p>
          <a:p>
            <a:r>
              <a:rPr lang="es-MX" sz="1600" dirty="0"/>
              <a:t>Costo anual: $5,400/unidad</a:t>
            </a:r>
          </a:p>
          <a:p>
            <a:pPr marL="0" indent="0">
              <a:buNone/>
            </a:pPr>
            <a:endParaRPr lang="es-MX" sz="1600" dirty="0"/>
          </a:p>
          <a:p>
            <a:pPr marL="0" indent="0">
              <a:buNone/>
            </a:pPr>
            <a:endParaRPr lang="es-MX" sz="1600" dirty="0"/>
          </a:p>
          <a:p>
            <a:pPr>
              <a:buFont typeface="Wingdings" panose="05000000000000000000" pitchFamily="2" charset="2"/>
              <a:buChar char="q"/>
            </a:pPr>
            <a:r>
              <a:rPr lang="es-MX" sz="1600" b="1" dirty="0"/>
              <a:t>OBD-II con 4G (</a:t>
            </a:r>
            <a:r>
              <a:rPr lang="es-MX" sz="1600" b="1" dirty="0" err="1"/>
              <a:t>Vyncs</a:t>
            </a:r>
            <a:r>
              <a:rPr lang="es-MX" sz="1600" b="1" dirty="0"/>
              <a:t>, </a:t>
            </a:r>
            <a:r>
              <a:rPr lang="es-MX" sz="1600" b="1" dirty="0" err="1"/>
              <a:t>GPSnVision</a:t>
            </a:r>
            <a:r>
              <a:rPr lang="es-MX" sz="1600" b="1" dirty="0"/>
              <a:t>)</a:t>
            </a:r>
            <a:endParaRPr lang="es-MX" sz="1600" dirty="0"/>
          </a:p>
          <a:p>
            <a:r>
              <a:rPr lang="es-MX" sz="1600" dirty="0"/>
              <a:t>$180–300 MXN/mes</a:t>
            </a:r>
          </a:p>
          <a:p>
            <a:r>
              <a:rPr lang="es-MX" sz="1600" dirty="0"/>
              <a:t>Plug-and-</a:t>
            </a:r>
            <a:r>
              <a:rPr lang="es-MX" sz="1600" dirty="0" err="1"/>
              <a:t>play</a:t>
            </a:r>
            <a:endParaRPr lang="es-MX" sz="1600" dirty="0"/>
          </a:p>
          <a:p>
            <a:r>
              <a:rPr lang="es-MX" sz="1600" dirty="0"/>
              <a:t>Actualiza cada 20–60 s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BC2409E7-8BA9-C7DF-7FBA-8B1D1DEDF835}"/>
              </a:ext>
            </a:extLst>
          </p:cNvPr>
          <p:cNvSpPr txBox="1">
            <a:spLocks/>
          </p:cNvSpPr>
          <p:nvPr/>
        </p:nvSpPr>
        <p:spPr>
          <a:xfrm>
            <a:off x="4641850" y="1417638"/>
            <a:ext cx="3898900" cy="4983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s-MX" sz="1600" b="1" dirty="0" err="1"/>
              <a:t>MOKOSmart</a:t>
            </a:r>
            <a:r>
              <a:rPr lang="es-MX" sz="1600" b="1" dirty="0"/>
              <a:t> híbrido (</a:t>
            </a:r>
            <a:r>
              <a:rPr lang="es-MX" sz="1600" b="1" dirty="0" err="1"/>
              <a:t>LoRaWAN</a:t>
            </a:r>
            <a:r>
              <a:rPr lang="es-MX" sz="1600" b="1" dirty="0"/>
              <a:t> + 4G)</a:t>
            </a:r>
            <a:endParaRPr lang="es-MX" sz="1600" dirty="0"/>
          </a:p>
          <a:p>
            <a:r>
              <a:rPr lang="es-MX" sz="1600" dirty="0"/>
              <a:t>Equipo: $1,500–1,800 MXN</a:t>
            </a:r>
          </a:p>
          <a:p>
            <a:r>
              <a:rPr lang="es-MX" sz="1600" dirty="0"/>
              <a:t>Gateway: hasta $5,500 MXN</a:t>
            </a:r>
          </a:p>
          <a:p>
            <a:r>
              <a:rPr lang="es-MX" sz="1600" dirty="0"/>
              <a:t>Latencia: 2–30 s</a:t>
            </a:r>
          </a:p>
          <a:p>
            <a:r>
              <a:rPr lang="es-MX" sz="1600" dirty="0"/>
              <a:t>Requiere instalación eléctrica</a:t>
            </a:r>
          </a:p>
          <a:p>
            <a:pPr marL="0" indent="0">
              <a:buNone/>
            </a:pPr>
            <a:endParaRPr lang="es-MX" sz="1600" dirty="0"/>
          </a:p>
          <a:p>
            <a:pPr marL="0" indent="0">
              <a:buNone/>
            </a:pPr>
            <a:endParaRPr lang="es-MX" sz="1600" dirty="0"/>
          </a:p>
          <a:p>
            <a:pPr>
              <a:buFont typeface="Wingdings" panose="05000000000000000000" pitchFamily="2" charset="2"/>
              <a:buChar char="q"/>
            </a:pPr>
            <a:r>
              <a:rPr lang="es-MX" sz="1600" b="1" dirty="0" err="1"/>
              <a:t>LoRaWAN</a:t>
            </a:r>
            <a:r>
              <a:rPr lang="es-MX" sz="1600" b="1" dirty="0"/>
              <a:t> puro (</a:t>
            </a:r>
            <a:r>
              <a:rPr lang="es-MX" sz="1600" b="1" dirty="0" err="1"/>
              <a:t>Abeeway</a:t>
            </a:r>
            <a:r>
              <a:rPr lang="es-MX" sz="1600" b="1" dirty="0"/>
              <a:t>)</a:t>
            </a:r>
            <a:endParaRPr lang="es-MX" sz="1600" dirty="0"/>
          </a:p>
          <a:p>
            <a:r>
              <a:rPr lang="es-MX" sz="1600" dirty="0"/>
              <a:t>$1,500–1,800 MXN por unidad</a:t>
            </a:r>
          </a:p>
          <a:p>
            <a:r>
              <a:rPr lang="es-MX" sz="1600" dirty="0"/>
              <a:t>Cobertura: 2–6 km</a:t>
            </a:r>
          </a:p>
          <a:p>
            <a:r>
              <a:rPr lang="es-MX" sz="1600" dirty="0"/>
              <a:t>Sin alertas críticas en tiempo real</a:t>
            </a:r>
          </a:p>
          <a:p>
            <a:r>
              <a:rPr lang="es-MX" sz="1600" dirty="0"/>
              <a:t>Requiere </a:t>
            </a:r>
            <a:r>
              <a:rPr lang="es-MX" sz="1600" dirty="0" err="1"/>
              <a:t>gateway</a:t>
            </a:r>
            <a:r>
              <a:rPr lang="es-MX" sz="1600" dirty="0"/>
              <a:t> y configuración técnica</a:t>
            </a:r>
          </a:p>
          <a:p>
            <a:pPr marL="0" indent="0">
              <a:buFont typeface="Arial"/>
              <a:buNone/>
            </a:pP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1759202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912EE-87E1-7540-002D-E261FBB2B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D5DAC-4453-993F-D746-DB0890CED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Limitaciones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276962-680D-9D66-305F-FF9F91FC7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850" y="1417638"/>
            <a:ext cx="3898900" cy="498316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s-MX" sz="1600" b="1" dirty="0"/>
              <a:t>Ituran Fleet (4G)</a:t>
            </a:r>
            <a:endParaRPr lang="es-MX" sz="1600" dirty="0"/>
          </a:p>
          <a:p>
            <a:r>
              <a:rPr lang="es-MX" sz="1600" dirty="0"/>
              <a:t>Muy costoso: hasta $5,400 MXN/año por unidad</a:t>
            </a:r>
          </a:p>
          <a:p>
            <a:r>
              <a:rPr lang="es-MX" sz="1600" dirty="0"/>
              <a:t>Requiere instalación fija y cableado</a:t>
            </a:r>
          </a:p>
          <a:p>
            <a:r>
              <a:rPr lang="es-MX" sz="1600" dirty="0"/>
              <a:t>Sin señal celular = sistema inoperante</a:t>
            </a:r>
          </a:p>
          <a:p>
            <a:pPr marL="0" indent="0">
              <a:buNone/>
            </a:pPr>
            <a:endParaRPr lang="es-MX" sz="1600" dirty="0"/>
          </a:p>
          <a:p>
            <a:pPr>
              <a:buFont typeface="Wingdings" panose="05000000000000000000" pitchFamily="2" charset="2"/>
              <a:buChar char="q"/>
            </a:pPr>
            <a:r>
              <a:rPr lang="es-MX" sz="1600" b="1" dirty="0"/>
              <a:t>OBD-II con 4G (</a:t>
            </a:r>
            <a:r>
              <a:rPr lang="es-MX" sz="1600" b="1" dirty="0" err="1"/>
              <a:t>Vyncs</a:t>
            </a:r>
            <a:r>
              <a:rPr lang="es-MX" sz="1600" b="1" dirty="0"/>
              <a:t>, </a:t>
            </a:r>
            <a:r>
              <a:rPr lang="es-MX" sz="1600" b="1" dirty="0" err="1"/>
              <a:t>GPSnVision</a:t>
            </a:r>
            <a:r>
              <a:rPr lang="es-MX" sz="1600" b="1" dirty="0"/>
              <a:t>)</a:t>
            </a:r>
            <a:endParaRPr lang="es-MX" sz="1600" dirty="0"/>
          </a:p>
          <a:p>
            <a:pPr>
              <a:buFont typeface="Wingdings" panose="05000000000000000000" pitchFamily="2" charset="2"/>
              <a:buChar char="§"/>
            </a:pPr>
            <a:r>
              <a:rPr lang="es-MX" sz="1600" dirty="0"/>
              <a:t>Sin botón de emergencia</a:t>
            </a:r>
          </a:p>
          <a:p>
            <a:r>
              <a:rPr lang="es-MX" sz="1600" dirty="0"/>
              <a:t>Desconexión fácil por el conductor</a:t>
            </a:r>
          </a:p>
          <a:p>
            <a:r>
              <a:rPr lang="es-MX" sz="1600" dirty="0"/>
              <a:t>No permite sensores ni personalización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29044D4-6329-7ADE-ADB2-1511BAAEB2F3}"/>
              </a:ext>
            </a:extLst>
          </p:cNvPr>
          <p:cNvSpPr txBox="1">
            <a:spLocks/>
          </p:cNvSpPr>
          <p:nvPr/>
        </p:nvSpPr>
        <p:spPr>
          <a:xfrm>
            <a:off x="4648200" y="1512888"/>
            <a:ext cx="3898900" cy="4983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s-MX" sz="1600" b="1" dirty="0" err="1"/>
              <a:t>MOKOSmart</a:t>
            </a:r>
            <a:r>
              <a:rPr lang="es-MX" sz="1600" b="1" dirty="0"/>
              <a:t> híbrido (</a:t>
            </a:r>
            <a:r>
              <a:rPr lang="es-MX" sz="1600" b="1" dirty="0" err="1"/>
              <a:t>LoRaWAN</a:t>
            </a:r>
            <a:r>
              <a:rPr lang="es-MX" sz="1600" b="1" dirty="0"/>
              <a:t> + 4G)</a:t>
            </a:r>
            <a:endParaRPr lang="es-MX" sz="1600" dirty="0"/>
          </a:p>
          <a:p>
            <a:r>
              <a:rPr lang="es-MX" sz="1600" dirty="0"/>
              <a:t>Instalación compleja (</a:t>
            </a:r>
            <a:r>
              <a:rPr lang="es-MX" sz="1600" dirty="0" err="1"/>
              <a:t>gateway</a:t>
            </a:r>
            <a:r>
              <a:rPr lang="es-MX" sz="1600" dirty="0"/>
              <a:t>, red, energía)</a:t>
            </a:r>
          </a:p>
          <a:p>
            <a:r>
              <a:rPr lang="es-MX" sz="1600" dirty="0"/>
              <a:t>Costos iniciales altos (&gt; $7,000 MXN)</a:t>
            </a:r>
          </a:p>
          <a:p>
            <a:r>
              <a:rPr lang="es-MX" sz="1600" dirty="0"/>
              <a:t>No apto para respuestas inmediatas</a:t>
            </a:r>
          </a:p>
          <a:p>
            <a:pPr marL="0" indent="0">
              <a:buNone/>
            </a:pPr>
            <a:endParaRPr lang="es-MX" sz="1600" dirty="0"/>
          </a:p>
          <a:p>
            <a:pPr>
              <a:buFont typeface="Wingdings" panose="05000000000000000000" pitchFamily="2" charset="2"/>
              <a:buChar char="q"/>
            </a:pPr>
            <a:r>
              <a:rPr lang="es-MX" sz="1600" b="1" dirty="0" err="1"/>
              <a:t>LoRaWAN</a:t>
            </a:r>
            <a:r>
              <a:rPr lang="es-MX" sz="1600" b="1" dirty="0"/>
              <a:t> puro (</a:t>
            </a:r>
            <a:r>
              <a:rPr lang="es-MX" sz="1600" b="1" dirty="0" err="1"/>
              <a:t>Abeeway</a:t>
            </a:r>
            <a:r>
              <a:rPr lang="es-MX" sz="1600" b="1" dirty="0"/>
              <a:t>)</a:t>
            </a:r>
            <a:endParaRPr lang="es-MX" sz="1600" dirty="0"/>
          </a:p>
          <a:p>
            <a:r>
              <a:rPr lang="es-MX" sz="1600" dirty="0"/>
              <a:t>Cobertura limitada sin infraestructura propia</a:t>
            </a:r>
          </a:p>
          <a:p>
            <a:r>
              <a:rPr lang="es-MX" sz="1600" dirty="0"/>
              <a:t>Latencia alta (no sirve para emergencias)</a:t>
            </a:r>
          </a:p>
          <a:p>
            <a:r>
              <a:rPr lang="es-MX" sz="1600" dirty="0"/>
              <a:t>Requiere conocimientos técnicos avanzados</a:t>
            </a:r>
          </a:p>
        </p:txBody>
      </p:sp>
    </p:spTree>
    <p:extLst>
      <p:ext uri="{BB962C8B-B14F-4D97-AF65-F5344CB8AC3E}">
        <p14:creationId xmlns:p14="http://schemas.microsoft.com/office/powerpoint/2010/main" val="2317676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038"/>
            <a:ext cx="8229600" cy="1143000"/>
          </a:xfrm>
        </p:spPr>
        <p:txBody>
          <a:bodyPr/>
          <a:lstStyle/>
          <a:p>
            <a:r>
              <a:rPr lang="es-MX" dirty="0"/>
              <a:t>Solución propuesta: Atzin </a:t>
            </a:r>
            <a:r>
              <a:rPr lang="es-MX" dirty="0" err="1"/>
              <a:t>Track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1339850"/>
            <a:ext cx="8674100" cy="5243512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s-MX" sz="2800" dirty="0"/>
              <a:t>Costo mensual bajo: desde $95 MXN/unidad al mes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MX" sz="2800" dirty="0"/>
              <a:t>Kits de hardware (5 nodos sencillo + 1 Gateway) desde $12,000</a:t>
            </a:r>
          </a:p>
          <a:p>
            <a:pPr>
              <a:buFont typeface="Wingdings" panose="05000000000000000000" pitchFamily="2" charset="2"/>
              <a:buChar char="ü"/>
            </a:pPr>
            <a:endParaRPr lang="es-MX" sz="2800" dirty="0"/>
          </a:p>
          <a:p>
            <a:pPr>
              <a:buFont typeface="Wingdings" panose="05000000000000000000" pitchFamily="2" charset="2"/>
              <a:buChar char="ü"/>
            </a:pPr>
            <a:r>
              <a:rPr lang="es-MX" sz="2800" dirty="0"/>
              <a:t>Instalación rápida: menos de 1 hora, sin cables</a:t>
            </a:r>
          </a:p>
          <a:p>
            <a:pPr>
              <a:buFont typeface="Wingdings" panose="05000000000000000000" pitchFamily="2" charset="2"/>
              <a:buChar char="ü"/>
            </a:pPr>
            <a:endParaRPr lang="es-MX" sz="2800" dirty="0"/>
          </a:p>
          <a:p>
            <a:pPr>
              <a:buFont typeface="Wingdings" panose="05000000000000000000" pitchFamily="2" charset="2"/>
              <a:buChar char="ü"/>
            </a:pPr>
            <a:r>
              <a:rPr lang="es-MX" sz="2800" dirty="0"/>
              <a:t>Sin red celular: usa radio </a:t>
            </a:r>
            <a:r>
              <a:rPr lang="es-MX" sz="2800" dirty="0" err="1"/>
              <a:t>LoRa</a:t>
            </a:r>
            <a:r>
              <a:rPr lang="es-MX" sz="2800" dirty="0"/>
              <a:t>, sin coste de infraestructura 4G</a:t>
            </a:r>
          </a:p>
          <a:p>
            <a:pPr>
              <a:buFont typeface="Wingdings" panose="05000000000000000000" pitchFamily="2" charset="2"/>
              <a:buChar char="ü"/>
            </a:pPr>
            <a:endParaRPr lang="es-MX" sz="2800" dirty="0"/>
          </a:p>
          <a:p>
            <a:pPr>
              <a:buFont typeface="Wingdings" panose="05000000000000000000" pitchFamily="2" charset="2"/>
              <a:buChar char="ü"/>
            </a:pPr>
            <a:r>
              <a:rPr lang="es-MX" sz="2800" dirty="0"/>
              <a:t>Botón de pánico físico, pantalla informativa para conductor y autenticación por NFC en versiones PRO (Kits desde $15,000)</a:t>
            </a:r>
          </a:p>
          <a:p>
            <a:pPr>
              <a:buFont typeface="Wingdings" panose="05000000000000000000" pitchFamily="2" charset="2"/>
              <a:buChar char="ü"/>
            </a:pPr>
            <a:endParaRPr lang="es-MX" sz="2800" dirty="0"/>
          </a:p>
          <a:p>
            <a:pPr>
              <a:buFont typeface="Wingdings" panose="05000000000000000000" pitchFamily="2" charset="2"/>
              <a:buChar char="ü"/>
            </a:pPr>
            <a:r>
              <a:rPr lang="es-MX" sz="2800" dirty="0"/>
              <a:t>Visualización de estado en plataforma web</a:t>
            </a:r>
          </a:p>
          <a:p>
            <a:pPr>
              <a:buFont typeface="Wingdings" panose="05000000000000000000" pitchFamily="2" charset="2"/>
              <a:buChar char="ü"/>
            </a:pPr>
            <a:endParaRPr lang="es-MX" sz="2800" dirty="0"/>
          </a:p>
          <a:p>
            <a:pPr>
              <a:buFont typeface="Wingdings" panose="05000000000000000000" pitchFamily="2" charset="2"/>
              <a:buChar char="ü"/>
            </a:pPr>
            <a:r>
              <a:rPr lang="es-MX" sz="2800" dirty="0"/>
              <a:t>Cobertura urbana de 1 a 4 km por nodo, ampliable con malla multisalto (se venden nodos por separado)</a:t>
            </a:r>
          </a:p>
          <a:p>
            <a:pPr>
              <a:buFont typeface="Wingdings" panose="05000000000000000000" pitchFamily="2" charset="2"/>
              <a:buChar char="ü"/>
            </a:pPr>
            <a:endParaRPr lang="es-MX" sz="2800" dirty="0"/>
          </a:p>
          <a:p>
            <a:pPr>
              <a:buFont typeface="Wingdings" panose="05000000000000000000" pitchFamily="2" charset="2"/>
              <a:buChar char="ü"/>
            </a:pPr>
            <a:r>
              <a:rPr lang="es-MX" sz="2800" dirty="0"/>
              <a:t>Autonomía: alrededor de 7 días sin recarga con </a:t>
            </a:r>
            <a:r>
              <a:rPr lang="es-MX" sz="2800" dirty="0" err="1"/>
              <a:t>powerbank</a:t>
            </a:r>
            <a:r>
              <a:rPr lang="es-MX" sz="2800" dirty="0"/>
              <a:t> reemplazable</a:t>
            </a:r>
            <a:endParaRPr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Tamaño de Mercado</a:t>
            </a:r>
            <a:endParaRPr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39E65F7-E66C-6F95-54D2-EF1EBB427A6C}"/>
              </a:ext>
            </a:extLst>
          </p:cNvPr>
          <p:cNvSpPr txBox="1"/>
          <p:nvPr/>
        </p:nvSpPr>
        <p:spPr>
          <a:xfrm>
            <a:off x="342900" y="1166842"/>
            <a:ext cx="791845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MX" sz="2400" b="1" dirty="0"/>
              <a:t>Pachuca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s-MX" sz="2400" dirty="0"/>
              <a:t>Transporte urbano: </a:t>
            </a:r>
            <a:r>
              <a:rPr lang="es-MX" sz="2400" b="1" dirty="0"/>
              <a:t>1.7 millones de pasajeros en agosto 2022</a:t>
            </a:r>
            <a:r>
              <a:rPr lang="es-MX" sz="2400" dirty="0"/>
              <a:t> (INEGI, 2022)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s-MX" sz="2400" dirty="0"/>
              <a:t>Se estima que operan </a:t>
            </a:r>
            <a:r>
              <a:rPr lang="es-MX" sz="2400" b="1" dirty="0"/>
              <a:t>2,000 unidades concesionadas</a:t>
            </a:r>
            <a:r>
              <a:rPr lang="es-MX" sz="2400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s-MX" sz="24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s-MX" sz="2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MX" sz="2400" b="1" dirty="0"/>
              <a:t>Estado de Hidalgo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s-MX" sz="2400" dirty="0"/>
              <a:t>Alrededor de </a:t>
            </a:r>
            <a:r>
              <a:rPr lang="es-MX" sz="2400" b="1" dirty="0"/>
              <a:t>8,187</a:t>
            </a:r>
            <a:r>
              <a:rPr lang="es-MX" sz="2400" dirty="0"/>
              <a:t> rutas colectivas y </a:t>
            </a:r>
            <a:r>
              <a:rPr lang="es-MX" sz="2400" b="1" dirty="0"/>
              <a:t>8,504</a:t>
            </a:r>
            <a:r>
              <a:rPr lang="es-MX" sz="2400" dirty="0"/>
              <a:t> taxis</a:t>
            </a:r>
            <a:endParaRPr lang="es-MX" sz="2400" b="1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s-MX" sz="2400" dirty="0"/>
              <a:t>Padrón estimado: </a:t>
            </a:r>
            <a:r>
              <a:rPr lang="es-MX" sz="2400" b="1" dirty="0"/>
              <a:t>aproximadamente 16,700 unidades concesionadas</a:t>
            </a:r>
            <a:r>
              <a:rPr lang="es-MX" sz="2400" dirty="0"/>
              <a:t> (INEGI, 2023)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s-MX" sz="2400" b="1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s-MX" sz="24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9688"/>
            <a:ext cx="8229600" cy="550862"/>
          </a:xfrm>
        </p:spPr>
        <p:txBody>
          <a:bodyPr>
            <a:normAutofit fontScale="90000"/>
          </a:bodyPr>
          <a:lstStyle/>
          <a:p>
            <a:r>
              <a:rPr lang="es-MX" dirty="0"/>
              <a:t>Modelo de negocios</a:t>
            </a:r>
            <a:endParaRPr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9919B33-8D7E-6072-D951-198D12392CD7}"/>
              </a:ext>
            </a:extLst>
          </p:cNvPr>
          <p:cNvSpPr txBox="1"/>
          <p:nvPr/>
        </p:nvSpPr>
        <p:spPr>
          <a:xfrm>
            <a:off x="342900" y="1304488"/>
            <a:ext cx="804545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0" lvl="5" indent="-285750">
              <a:buFont typeface="Wingdings" panose="05000000000000000000" pitchFamily="2" charset="2"/>
              <a:buChar char="Ø"/>
            </a:pPr>
            <a:r>
              <a:rPr lang="es-MX" sz="2000" b="1" dirty="0"/>
              <a:t>Ingresos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2000" b="1" dirty="0"/>
              <a:t>Venta e instalación de hardware (Kits y por pieza)</a:t>
            </a:r>
            <a:endParaRPr lang="es-MX" sz="20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sz="2000" dirty="0"/>
              <a:t>Nodos: </a:t>
            </a:r>
            <a:r>
              <a:rPr lang="es-MX" sz="2000" b="1" dirty="0"/>
              <a:t>$800–$1,200 MXN</a:t>
            </a:r>
            <a:r>
              <a:rPr lang="es-MX" sz="2000" dirty="0"/>
              <a:t> c/u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sz="2000" dirty="0" err="1"/>
              <a:t>Gateways</a:t>
            </a:r>
            <a:r>
              <a:rPr lang="es-MX" sz="2000" dirty="0"/>
              <a:t>: </a:t>
            </a:r>
            <a:r>
              <a:rPr lang="es-MX" sz="2000" b="1" dirty="0"/>
              <a:t>$2,500 MXN</a:t>
            </a:r>
            <a:endParaRPr lang="es-MX" sz="20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sz="2000" dirty="0"/>
              <a:t>Margen bruto: </a:t>
            </a:r>
            <a:r>
              <a:rPr lang="es-MX" sz="2000" b="1" dirty="0"/>
              <a:t>35–45 %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sz="2000" b="1" dirty="0"/>
              <a:t>Paquetes </a:t>
            </a:r>
            <a:r>
              <a:rPr lang="es-MX" sz="2000" dirty="0"/>
              <a:t>con kits Básicos y PRO</a:t>
            </a:r>
            <a:endParaRPr lang="es-MX" sz="2000" b="1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s-MX" sz="20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2000" b="1" dirty="0"/>
              <a:t> Suscripción mensual (SaaS)</a:t>
            </a:r>
            <a:endParaRPr lang="es-MX" sz="20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sz="2000" dirty="0"/>
              <a:t>Costo para el cliente mínimo: </a:t>
            </a:r>
            <a:r>
              <a:rPr lang="es-MX" sz="2000" b="1" dirty="0"/>
              <a:t>$95 MXN/unidad/mes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sz="2000" dirty="0"/>
              <a:t>Distintos planes de servicio desde 95-250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sz="2000" dirty="0"/>
              <a:t>Costo operativo estimado: </a:t>
            </a:r>
            <a:r>
              <a:rPr lang="es-MX" sz="2000" b="1" dirty="0"/>
              <a:t>$35–40 MXN</a:t>
            </a:r>
            <a:endParaRPr lang="es-MX" sz="20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sz="2000" dirty="0"/>
              <a:t>Margen neto: </a:t>
            </a:r>
            <a:r>
              <a:rPr lang="es-MX" sz="2000" b="1" dirty="0"/>
              <a:t>alrededor de 60 %</a:t>
            </a:r>
            <a:endParaRPr lang="es-MX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78F32-33DB-588A-3DA4-6B8A1C789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3552D-449C-A64F-8FD5-F5C397620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7788"/>
            <a:ext cx="8229600" cy="417512"/>
          </a:xfrm>
        </p:spPr>
        <p:txBody>
          <a:bodyPr>
            <a:normAutofit fontScale="90000"/>
          </a:bodyPr>
          <a:lstStyle/>
          <a:p>
            <a:r>
              <a:rPr lang="es-MX" dirty="0"/>
              <a:t>Modelo de negocios</a:t>
            </a:r>
            <a:endParaRPr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514B55DA-AE98-E0C1-670F-79ED608C29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961677"/>
              </p:ext>
            </p:extLst>
          </p:nvPr>
        </p:nvGraphicFramePr>
        <p:xfrm>
          <a:off x="337803" y="813986"/>
          <a:ext cx="8348997" cy="463548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782999">
                  <a:extLst>
                    <a:ext uri="{9D8B030D-6E8A-4147-A177-3AD203B41FA5}">
                      <a16:colId xmlns:a16="http://schemas.microsoft.com/office/drawing/2014/main" val="1403212283"/>
                    </a:ext>
                  </a:extLst>
                </a:gridCol>
                <a:gridCol w="2782999">
                  <a:extLst>
                    <a:ext uri="{9D8B030D-6E8A-4147-A177-3AD203B41FA5}">
                      <a16:colId xmlns:a16="http://schemas.microsoft.com/office/drawing/2014/main" val="2494283427"/>
                    </a:ext>
                  </a:extLst>
                </a:gridCol>
                <a:gridCol w="2782999">
                  <a:extLst>
                    <a:ext uri="{9D8B030D-6E8A-4147-A177-3AD203B41FA5}">
                      <a16:colId xmlns:a16="http://schemas.microsoft.com/office/drawing/2014/main" val="1805162537"/>
                    </a:ext>
                  </a:extLst>
                </a:gridCol>
              </a:tblGrid>
              <a:tr h="311229">
                <a:tc>
                  <a:txBody>
                    <a:bodyPr/>
                    <a:lstStyle/>
                    <a:p>
                      <a:r>
                        <a:rPr lang="es-MX" sz="1700" dirty="0"/>
                        <a:t>Característica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s-MX" sz="1700" b="1" dirty="0"/>
                        <a:t>Kit Básico</a:t>
                      </a:r>
                      <a:endParaRPr lang="es-MX" sz="1700" dirty="0"/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s-MX" sz="1700" b="1"/>
                        <a:t>Kit Pro (Avanzado)</a:t>
                      </a:r>
                      <a:endParaRPr lang="es-MX" sz="1700"/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3532455665"/>
                  </a:ext>
                </a:extLst>
              </a:tr>
              <a:tr h="541016">
                <a:tc>
                  <a:txBody>
                    <a:bodyPr/>
                    <a:lstStyle/>
                    <a:p>
                      <a:r>
                        <a:rPr lang="es-MX" sz="1700"/>
                        <a:t>Nodos incluidos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pt-BR" sz="1700" dirty="0"/>
                        <a:t>5 nodos simples (tipo B o </a:t>
                      </a:r>
                      <a:r>
                        <a:rPr lang="pt-BR" sz="1700" dirty="0" err="1"/>
                        <a:t>mixtos</a:t>
                      </a:r>
                      <a:r>
                        <a:rPr lang="pt-BR" sz="1700" dirty="0"/>
                        <a:t>)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s-MX" sz="1700" dirty="0"/>
                        <a:t>5 nodos tipo PRO (tipo A o mixtos)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1218775306"/>
                  </a:ext>
                </a:extLst>
              </a:tr>
              <a:tr h="311229">
                <a:tc>
                  <a:txBody>
                    <a:bodyPr/>
                    <a:lstStyle/>
                    <a:p>
                      <a:r>
                        <a:rPr lang="es-MX" sz="1700" dirty="0"/>
                        <a:t>Pantalla TFT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s-MX" sz="1700"/>
                        <a:t>No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s-MX" sz="1700"/>
                        <a:t>Sí (3.2 pulgadas)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3611588486"/>
                  </a:ext>
                </a:extLst>
              </a:tr>
              <a:tr h="311229">
                <a:tc>
                  <a:txBody>
                    <a:bodyPr/>
                    <a:lstStyle/>
                    <a:p>
                      <a:r>
                        <a:rPr lang="es-MX" sz="1700"/>
                        <a:t>GPS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s-MX" sz="1700"/>
                        <a:t>Sí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s-MX" sz="1700"/>
                        <a:t>Sí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1793929696"/>
                  </a:ext>
                </a:extLst>
              </a:tr>
              <a:tr h="311229">
                <a:tc>
                  <a:txBody>
                    <a:bodyPr/>
                    <a:lstStyle/>
                    <a:p>
                      <a:r>
                        <a:rPr lang="es-MX" sz="1700"/>
                        <a:t>Botón de pánico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s-MX" sz="1700"/>
                        <a:t>No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s-MX" sz="1700"/>
                        <a:t>Sí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818575110"/>
                  </a:ext>
                </a:extLst>
              </a:tr>
              <a:tr h="544650">
                <a:tc>
                  <a:txBody>
                    <a:bodyPr/>
                    <a:lstStyle/>
                    <a:p>
                      <a:r>
                        <a:rPr lang="es-MX" sz="1700"/>
                        <a:t>Sensor de movimiento (MPU6050)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s-MX" sz="1700"/>
                        <a:t>No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s-MX" sz="1700"/>
                        <a:t>Sí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2294566275"/>
                  </a:ext>
                </a:extLst>
              </a:tr>
              <a:tr h="544650">
                <a:tc>
                  <a:txBody>
                    <a:bodyPr/>
                    <a:lstStyle/>
                    <a:p>
                      <a:r>
                        <a:rPr lang="es-MX" sz="1700"/>
                        <a:t>NFC (autenticación de operador)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s-MX" sz="1700"/>
                        <a:t>No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s-MX" sz="1700"/>
                        <a:t>Sí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3196553589"/>
                  </a:ext>
                </a:extLst>
              </a:tr>
              <a:tr h="311229">
                <a:tc>
                  <a:txBody>
                    <a:bodyPr/>
                    <a:lstStyle/>
                    <a:p>
                      <a:r>
                        <a:rPr lang="es-MX" sz="1700"/>
                        <a:t>Visualización local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s-MX" sz="1700"/>
                        <a:t>No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s-MX" sz="1700"/>
                        <a:t>Sí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2598109843"/>
                  </a:ext>
                </a:extLst>
              </a:tr>
              <a:tr h="544650">
                <a:tc>
                  <a:txBody>
                    <a:bodyPr/>
                    <a:lstStyle/>
                    <a:p>
                      <a:r>
                        <a:rPr lang="es-MX" sz="1700"/>
                        <a:t>Gateway incluido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s-MX" sz="1700" dirty="0"/>
                        <a:t>1 HT-M7603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it-IT" sz="1700" dirty="0"/>
                        <a:t>1 HT-M7603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1028972290"/>
                  </a:ext>
                </a:extLst>
              </a:tr>
              <a:tr h="544650">
                <a:tc>
                  <a:txBody>
                    <a:bodyPr/>
                    <a:lstStyle/>
                    <a:p>
                      <a:r>
                        <a:rPr lang="es-MX" sz="1700"/>
                        <a:t>Costo estimado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s-MX" sz="1700" dirty="0"/>
                        <a:t>$12,000 MXN por kit</a:t>
                      </a:r>
                    </a:p>
                  </a:txBody>
                  <a:tcPr marL="87038" marR="87038" marT="43519" marB="43519" anchor="ctr"/>
                </a:tc>
                <a:tc>
                  <a:txBody>
                    <a:bodyPr/>
                    <a:lstStyle/>
                    <a:p>
                      <a:r>
                        <a:rPr lang="es-MX" sz="1700" dirty="0"/>
                        <a:t>$15,000 MXN por kit</a:t>
                      </a:r>
                    </a:p>
                  </a:txBody>
                  <a:tcPr marL="87038" marR="87038" marT="43519" marB="43519" anchor="ctr"/>
                </a:tc>
                <a:extLst>
                  <a:ext uri="{0D108BD9-81ED-4DB2-BD59-A6C34878D82A}">
                    <a16:rowId xmlns:a16="http://schemas.microsoft.com/office/drawing/2014/main" val="1872029775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E5FE2CDE-E38C-872B-CE53-000B4D6D2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938" y="475432"/>
            <a:ext cx="304480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Comparativo: Kit Básico vs Kit Pro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979063F-43CD-FEC2-24BF-2B997C80C841}"/>
              </a:ext>
            </a:extLst>
          </p:cNvPr>
          <p:cNvSpPr txBox="1"/>
          <p:nvPr/>
        </p:nvSpPr>
        <p:spPr>
          <a:xfrm>
            <a:off x="337803" y="5579883"/>
            <a:ext cx="86093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MX" b="1" dirty="0"/>
              <a:t>¿Para qué sirve el Kit Pro?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Para </a:t>
            </a:r>
            <a:r>
              <a:rPr lang="es-MX" b="1" dirty="0"/>
              <a:t>rutas </a:t>
            </a:r>
            <a:r>
              <a:rPr lang="es-MX" dirty="0"/>
              <a:t>con alto flujo o riesgo operativo.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Cuando se requiere </a:t>
            </a:r>
            <a:r>
              <a:rPr lang="es-MX" b="1" dirty="0"/>
              <a:t>verificación de conductor</a:t>
            </a:r>
            <a:r>
              <a:rPr lang="es-MX" dirty="0"/>
              <a:t> (por NFC)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Cuando se desea tener </a:t>
            </a:r>
            <a:r>
              <a:rPr lang="es-MX" b="1" dirty="0"/>
              <a:t>una pantalla visible al operador</a:t>
            </a:r>
            <a:r>
              <a:rPr lang="es-MX" dirty="0"/>
              <a:t> con estado del sistema y alertas.</a:t>
            </a:r>
          </a:p>
        </p:txBody>
      </p:sp>
    </p:spTree>
    <p:extLst>
      <p:ext uri="{BB962C8B-B14F-4D97-AF65-F5344CB8AC3E}">
        <p14:creationId xmlns:p14="http://schemas.microsoft.com/office/powerpoint/2010/main" val="1309877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7F945-A478-2644-329F-2C45F692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46A82-F9D5-B721-1DD6-12F096C57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7788"/>
            <a:ext cx="8229600" cy="665162"/>
          </a:xfrm>
        </p:spPr>
        <p:txBody>
          <a:bodyPr>
            <a:normAutofit fontScale="90000"/>
          </a:bodyPr>
          <a:lstStyle/>
          <a:p>
            <a:r>
              <a:rPr lang="es-MX" dirty="0"/>
              <a:t>Modelo de negocios</a:t>
            </a:r>
            <a:endParaRPr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6E746FAB-7D5A-4DCC-9582-C3098A9BD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087145"/>
              </p:ext>
            </p:extLst>
          </p:nvPr>
        </p:nvGraphicFramePr>
        <p:xfrm>
          <a:off x="292100" y="1607502"/>
          <a:ext cx="8229600" cy="4480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39141698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812894037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236964878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7122657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MX" b="1"/>
                        <a:t>Nivel</a:t>
                      </a:r>
                      <a:endParaRPr lang="es-MX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b="1" dirty="0"/>
                        <a:t>Costo mensual estimado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b="1"/>
                        <a:t>Incluye</a:t>
                      </a:r>
                      <a:endParaRPr lang="es-MX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b="1"/>
                        <a:t>Ideal para</a:t>
                      </a:r>
                      <a:endParaRPr lang="es-MX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227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b="1"/>
                        <a:t>Básico</a:t>
                      </a:r>
                      <a:endParaRPr lang="es-MX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/>
                        <a:t>$95 MXN/unidad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/>
                        <a:t>Visualización de ubicación en mapa, reportes cada 30–60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/>
                        <a:t>Rastreo general de flotillas pequeñas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353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b="1"/>
                        <a:t>Intermedio</a:t>
                      </a:r>
                      <a:endParaRPr lang="es-MX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/>
                        <a:t>$120 MXN/unidad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/>
                        <a:t>Alertas por botón de pánico, autenticación NFC, acceso multiusuario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/>
                        <a:t>Taxis, rutas con múltiples operadores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697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b="1"/>
                        <a:t>Avanzado</a:t>
                      </a:r>
                      <a:endParaRPr lang="es-MX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/>
                        <a:t>$145 MXN/unidad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/>
                        <a:t>Integración con API externa, analítica de trayectos, configuración remota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Flotas concesionadas o institucionales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9244796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F32A1CB5-7368-EA80-1371-04C6A3D13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852059"/>
            <a:ext cx="40005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Comparativo de niveles Software as a </a:t>
            </a:r>
            <a:r>
              <a:rPr kumimoji="0" lang="es-MX" altLang="es-MX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Service</a:t>
            </a:r>
            <a:endParaRPr kumimoji="0" lang="es-MX" altLang="es-MX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02140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926" y="90488"/>
            <a:ext cx="8229600" cy="588962"/>
          </a:xfrm>
        </p:spPr>
        <p:txBody>
          <a:bodyPr>
            <a:normAutofit fontScale="90000"/>
          </a:bodyPr>
          <a:lstStyle/>
          <a:p>
            <a:r>
              <a:rPr lang="es-MX" dirty="0"/>
              <a:t>Datos financieros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6" y="3587947"/>
            <a:ext cx="8394700" cy="2995415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s-MX" sz="2000" b="1" dirty="0"/>
              <a:t>Proyecciones 2026–2030</a:t>
            </a:r>
            <a:endParaRPr lang="es-MX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s-MX" sz="1600" b="1" dirty="0"/>
              <a:t>Ingresos año 1:</a:t>
            </a:r>
            <a:r>
              <a:rPr lang="es-MX" sz="1600" dirty="0"/>
              <a:t> $285,000 MXN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MX" sz="1600" b="1" dirty="0"/>
              <a:t>Utilidad año 1:</a:t>
            </a:r>
            <a:r>
              <a:rPr lang="es-MX" sz="1600" dirty="0"/>
              <a:t> $43,794 MXN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MX" sz="1600" b="1" dirty="0"/>
              <a:t>Crecimiento estimado:</a:t>
            </a:r>
            <a:r>
              <a:rPr lang="es-MX" sz="1600" dirty="0"/>
              <a:t> 20 % anual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s-MX" sz="2000" b="1" dirty="0"/>
              <a:t>Indicadores clave</a:t>
            </a:r>
            <a:endParaRPr lang="es-MX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s-MX" sz="1600" b="1" dirty="0"/>
              <a:t>ROI (3 años):</a:t>
            </a:r>
            <a:r>
              <a:rPr lang="es-MX" sz="1600" dirty="0"/>
              <a:t> 252 %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MX" sz="1600" b="1" dirty="0"/>
              <a:t>TIR:</a:t>
            </a:r>
            <a:r>
              <a:rPr lang="es-MX" sz="1600" dirty="0"/>
              <a:t> 48.86 %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MX" sz="1600" b="1" dirty="0"/>
              <a:t>VPN:</a:t>
            </a:r>
            <a:r>
              <a:rPr lang="es-MX" sz="1600" dirty="0"/>
              <a:t> $290,066 MXN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MX" sz="1600" b="1" dirty="0"/>
              <a:t>IR: 1.95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s-MX" sz="1600" dirty="0"/>
          </a:p>
          <a:p>
            <a:r>
              <a:rPr lang="es-MX" sz="2400" b="1" dirty="0"/>
              <a:t>Punto de equilibrio:</a:t>
            </a:r>
            <a:r>
              <a:rPr lang="es-MX" sz="2400" dirty="0"/>
              <a:t> alrededor del mes 19, con 10 kits vendidos.</a:t>
            </a:r>
            <a:endParaRPr sz="24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4968D35-E126-B7B7-7144-0136C64516A2}"/>
              </a:ext>
            </a:extLst>
          </p:cNvPr>
          <p:cNvSpPr txBox="1"/>
          <p:nvPr/>
        </p:nvSpPr>
        <p:spPr>
          <a:xfrm>
            <a:off x="250825" y="825648"/>
            <a:ext cx="839470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0" lvl="5" indent="-285750">
              <a:buFont typeface="Wingdings" panose="05000000000000000000" pitchFamily="2" charset="2"/>
              <a:buChar char="Ø"/>
            </a:pPr>
            <a:r>
              <a:rPr lang="es-MX" b="1" dirty="0"/>
              <a:t>Estructura inicial de Costos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dirty="0"/>
              <a:t>• </a:t>
            </a:r>
            <a:r>
              <a:rPr lang="es-MX" b="1" dirty="0"/>
              <a:t>Electrónica y carcaza (nodos y </a:t>
            </a:r>
            <a:r>
              <a:rPr lang="es-MX" b="1" dirty="0" err="1"/>
              <a:t>gateways</a:t>
            </a:r>
            <a:r>
              <a:rPr lang="es-MX" b="1" dirty="0"/>
              <a:t>): </a:t>
            </a:r>
            <a:r>
              <a:rPr lang="es-MX" dirty="0"/>
              <a:t>10 kits operativos (50 nodos y 10 </a:t>
            </a:r>
            <a:r>
              <a:rPr lang="es-MX" dirty="0" err="1"/>
              <a:t>gateways</a:t>
            </a:r>
            <a:r>
              <a:rPr lang="es-MX" dirty="0"/>
              <a:t>), estimados en $12,000 MXN por kit, totalizando </a:t>
            </a:r>
            <a:r>
              <a:rPr lang="es-MX" b="1" dirty="0"/>
              <a:t>$120,000 MXN</a:t>
            </a:r>
            <a:r>
              <a:rPr lang="es-MX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dirty="0"/>
              <a:t>• </a:t>
            </a:r>
            <a:r>
              <a:rPr lang="es-MX" b="1" dirty="0"/>
              <a:t>Capacitación y despliegue</a:t>
            </a:r>
            <a:r>
              <a:rPr lang="es-MX" dirty="0"/>
              <a:t>: Incluye preparación del personal para instalación, pruebas de campo y configuración. Estimado: </a:t>
            </a:r>
            <a:r>
              <a:rPr lang="es-MX" b="1" dirty="0"/>
              <a:t>$15,000 MXN</a:t>
            </a:r>
            <a:r>
              <a:rPr lang="es-MX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dirty="0"/>
              <a:t>• </a:t>
            </a:r>
            <a:r>
              <a:rPr lang="es-MX" b="1" dirty="0"/>
              <a:t>Desarrollo, plataforma y operación inicial</a:t>
            </a:r>
            <a:r>
              <a:rPr lang="es-MX" dirty="0"/>
              <a:t>: Desarrollo de firmware, servidor MQTT, visualización web, </a:t>
            </a:r>
            <a:r>
              <a:rPr lang="es-MX" dirty="0" err="1"/>
              <a:t>backups</a:t>
            </a:r>
            <a:r>
              <a:rPr lang="es-MX" dirty="0"/>
              <a:t> y mantenimiento por 6 meses. </a:t>
            </a:r>
            <a:r>
              <a:rPr lang="es-MX" b="1" dirty="0"/>
              <a:t>Total: $14,000MXN.</a:t>
            </a:r>
          </a:p>
          <a:p>
            <a:endParaRPr lang="es-MX" sz="1900" b="1" dirty="0"/>
          </a:p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s-MX" sz="1900" b="1" dirty="0"/>
              <a:t>• Total inversión inicial: $149,000 MXN.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1053</TotalTime>
  <Words>967</Words>
  <Application>Microsoft Office PowerPoint</Application>
  <PresentationFormat>Presentación en pantalla (4:3)</PresentationFormat>
  <Paragraphs>166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Wingdings</vt:lpstr>
      <vt:lpstr>Office Theme</vt:lpstr>
      <vt:lpstr>Presentación de PowerPoint</vt:lpstr>
      <vt:lpstr>Problemas a resolver</vt:lpstr>
      <vt:lpstr>Soluciones existentes en el mercado</vt:lpstr>
      <vt:lpstr>Limitaciones</vt:lpstr>
      <vt:lpstr>Solución propuesta: Atzin Track</vt:lpstr>
      <vt:lpstr>Tamaño de Mercado</vt:lpstr>
      <vt:lpstr>Modelo de negocios</vt:lpstr>
      <vt:lpstr>Modelo de negocios</vt:lpstr>
      <vt:lpstr>Modelo de negocios</vt:lpstr>
      <vt:lpstr>Datos financieros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Erick Vega</dc:creator>
  <cp:keywords/>
  <dc:description>generated using python-pptx</dc:description>
  <cp:lastModifiedBy>Erick Vega</cp:lastModifiedBy>
  <cp:revision>2</cp:revision>
  <dcterms:created xsi:type="dcterms:W3CDTF">2013-01-27T09:14:16Z</dcterms:created>
  <dcterms:modified xsi:type="dcterms:W3CDTF">2025-06-13T13:20:00Z</dcterms:modified>
  <cp:category/>
</cp:coreProperties>
</file>